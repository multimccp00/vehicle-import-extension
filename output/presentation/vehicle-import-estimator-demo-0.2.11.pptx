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02bcf326b24840" /><Relationship Type="http://schemas.openxmlformats.org/officeDocument/2006/relationships/extended-properties" Target="/docProps/app.xml" Id="R57e1093f5b88448f" /><Relationship Type="http://schemas.openxmlformats.org/officeDocument/2006/relationships/officeDocument" Target="/ppt/presentation.xml" Id="R88ffcd970c9f4c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8a9fded76644c3"/>
  </p:sldMasterIdLst>
  <p:notesMasterIdLst>
    <p:notesMasterId xmlns:r="http://schemas.openxmlformats.org/officeDocument/2006/relationships" r:id="R654307b9c01442c0"/>
  </p:notesMasterIdLst>
  <p:sldIdLst>
    <p:sldId xmlns:r="http://schemas.openxmlformats.org/officeDocument/2006/relationships" id="256" r:id="Rfdf133c526aa4c5e"/>
    <p:sldId xmlns:r="http://schemas.openxmlformats.org/officeDocument/2006/relationships" id="257" r:id="Rffe497fd0a1b4651"/>
    <p:sldId xmlns:r="http://schemas.openxmlformats.org/officeDocument/2006/relationships" id="258" r:id="R8c86bc2fe3d643d2"/>
    <p:sldId xmlns:r="http://schemas.openxmlformats.org/officeDocument/2006/relationships" id="259" r:id="R8bb7d9ca44944968"/>
    <p:sldId xmlns:r="http://schemas.openxmlformats.org/officeDocument/2006/relationships" id="260" r:id="R18be18d4336d4ba4"/>
    <p:sldId xmlns:r="http://schemas.openxmlformats.org/officeDocument/2006/relationships" id="261" r:id="R7dd906ceaf7443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88a0da51084298" /><Relationship Type="http://schemas.openxmlformats.org/officeDocument/2006/relationships/slideMaster" Target="/ppt/slideMasters/slideMaster1.xml" Id="R058a9fded76644c3" /><Relationship Type="http://schemas.openxmlformats.org/officeDocument/2006/relationships/notesMaster" Target="/ppt/notesMasters/notesMaster1.xml" Id="R654307b9c01442c0" /><Relationship Type="http://schemas.openxmlformats.org/officeDocument/2006/relationships/presProps" Target="/ppt/presProps.xml" Id="R1423a980123e4527" /><Relationship Type="http://schemas.openxmlformats.org/officeDocument/2006/relationships/tableStyles" Target="/ppt/tableStyles.xml" Id="R9ec829cc5e4f4da9" /><Relationship Type="http://schemas.openxmlformats.org/officeDocument/2006/relationships/slide" Target="/ppt/slides/slide1.xml" Id="Rfdf133c526aa4c5e" /><Relationship Type="http://schemas.openxmlformats.org/officeDocument/2006/relationships/slide" Target="/ppt/slides/slide2.xml" Id="Rffe497fd0a1b4651" /><Relationship Type="http://schemas.openxmlformats.org/officeDocument/2006/relationships/slide" Target="/ppt/slides/slide3.xml" Id="R8c86bc2fe3d643d2" /><Relationship Type="http://schemas.openxmlformats.org/officeDocument/2006/relationships/slide" Target="/ppt/slides/slide4.xml" Id="R8bb7d9ca44944968" /><Relationship Type="http://schemas.openxmlformats.org/officeDocument/2006/relationships/slide" Target="/ppt/slides/slide5.xml" Id="R18be18d4336d4ba4" /><Relationship Type="http://schemas.openxmlformats.org/officeDocument/2006/relationships/slide" Target="/ppt/slides/slide6.xml" Id="R7dd906ceaf7443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8c486d10d04b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b6d48bab5549ca" /><Relationship Type="http://schemas.openxmlformats.org/officeDocument/2006/relationships/notesMaster" Target="/ppt/notesMasters/notesMaster1.xml" Id="R567cea0a472e4d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c9146a63cc402f" /><Relationship Type="http://schemas.openxmlformats.org/officeDocument/2006/relationships/notesMaster" Target="/ppt/notesMasters/notesMaster1.xml" Id="Re9ae0dcb7dd74a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034170bf794bd0" /><Relationship Type="http://schemas.openxmlformats.org/officeDocument/2006/relationships/notesMaster" Target="/ppt/notesMasters/notesMaster1.xml" Id="R8d4c4f4d35e943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8b399030644404" /><Relationship Type="http://schemas.openxmlformats.org/officeDocument/2006/relationships/notesMaster" Target="/ppt/notesMasters/notesMaster1.xml" Id="R7c798783dbff46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5efcd80e9943c8" /><Relationship Type="http://schemas.openxmlformats.org/officeDocument/2006/relationships/notesMaster" Target="/ppt/notesMasters/notesMaster1.xml" Id="R1395304e58994c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b0f38fb1b04d72" /><Relationship Type="http://schemas.openxmlformats.org/officeDocument/2006/relationships/notesMaster" Target="/ppt/notesMasters/notesMaster1.xml" Id="Rd83cc6021c6d4f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README.md and source code, Vehicle Import Estimator v0.2.11. Workshop requirements: AI Tools - Kickoff Session.pdf, page 15.</a:t>
            </a:r>
          </a:p>
          <a:p xmlns:a="http://schemas.openxmlformats.org/drawingml/2006/main">
            <a:r>
              <a:t>Cover slide. State the problem in one sentence, then open the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README.md and source code, Vehicle Import Estimator v0.2.11. Workshop requirements: AI Tools - Kickoff Session.pdf, page 15.</a:t>
            </a:r>
          </a:p>
          <a:p xmlns:a="http://schemas.openxmlformats.org/drawingml/2006/main">
            <a:r>
              <a:t>Explain that the tool estimates only when it can do so safely. It avoids asking the buyer to guess a variant.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README.md and source code, Vehicle Import Estimator v0.2.11. Workshop requirements: AI Tools - Kickoff Session.pdf, page 15.</a:t>
            </a:r>
          </a:p>
          <a:p xmlns:a="http://schemas.openxmlformats.org/drawingml/2006/main">
            <a:r>
              <a:t>The screenshot comes from the user-provided AutoScout24 example. The implementation runs as a Manifest V3 Chrome extension with a service worker for EEA requests.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README.md and source code, Vehicle Import Estimator v0.2.11. Workshop requirements: AI Tools - Kickoff Session.pdf, page 15.</a:t>
            </a:r>
          </a:p>
          <a:p xmlns:a="http://schemas.openxmlformats.org/drawingml/2006/main">
            <a:r>
              <a:t>Point to src/matcher.js and src/eea-lookup.js if the audience asks for implementation detail. The range protects users from false precision.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README.md and source code, Vehicle Import Estimator v0.2.11. Workshop requirements: AI Tools - Kickoff Session.pdf, page 15.</a:t>
            </a:r>
          </a:p>
          <a:p xmlns:a="http://schemas.openxmlformats.org/drawingml/2006/main">
            <a:r>
              <a:t>Verification evidence: npm test, 18 passing tests on 23 September 2026. Portugal ISV rules are represented in data/portugal-rules.json and calculator tests cover the electric-vehicle exemption.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README.md and source code, Vehicle Import Estimator v0.2.11. Workshop requirements: AI Tools - Kickoff Session.pdf, page 15.</a:t>
            </a:r>
          </a:p>
          <a:p xmlns:a="http://schemas.openxmlformats.org/drawingml/2006/main">
            <a:r>
              <a:t>Close with the repository URL and README. The README contains clean-install steps, test command, limitations, demo plan, and AI prompt reflection.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d5f368c2094d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3827ba9bf8471c" /><Relationship Type="http://schemas.openxmlformats.org/officeDocument/2006/relationships/slideLayout" Target="/ppt/slideLayouts/slideLayout1.xml" Id="R3540fa1008454f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40fa1008454f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ce88b55344ef1" /><Relationship Type="http://schemas.openxmlformats.org/officeDocument/2006/relationships/notesSlide" Target="/ppt/notesSlides/notesSlide1.xml" Id="R2d36e42fe06a40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afe1318b443b3" /><Relationship Type="http://schemas.openxmlformats.org/officeDocument/2006/relationships/notesSlide" Target="/ppt/notesSlides/notesSlide2.xml" Id="R6a545fa55c7a49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8aa062a33416e" /><Relationship Type="http://schemas.openxmlformats.org/officeDocument/2006/relationships/image" Target="/ppt/media/image.png" Id="Rc8b48c892cf54cdd" /><Relationship Type="http://schemas.openxmlformats.org/officeDocument/2006/relationships/notesSlide" Target="/ppt/notesSlides/notesSlide3.xml" Id="Raf62bd2cf5fc4e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42f8f65b94e38" /><Relationship Type="http://schemas.openxmlformats.org/officeDocument/2006/relationships/notesSlide" Target="/ppt/notesSlides/notesSlide4.xml" Id="Re14d867328144c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5ccb2996c4d3f" /><Relationship Type="http://schemas.openxmlformats.org/officeDocument/2006/relationships/notesSlide" Target="/ppt/notesSlides/notesSlide5.xml" Id="Rf2d9c21f75034c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9be9d146b48de" /><Relationship Type="http://schemas.openxmlformats.org/officeDocument/2006/relationships/notesSlide" Target="/ppt/notesSlides/notesSlide6.xml" Id="R40be1f90d8634a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9978D-6D76-4654-839A-4698A264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F000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E6F000"/>
                </a:solidFill>
                <a:latin typeface="Helvetica"/>
                <a:ea typeface="Helvetica"/>
                <a:cs typeface="Helvetica"/>
              </a:rPr>
              <a:t>AI WORKSHOP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AD762-5F2E-4F64-A70B-38E7F23A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7F7F2"/>
                </a:solidFill>
                <a:latin typeface="Helvetica"/>
                <a:ea typeface="Helvetica"/>
                <a:cs typeface="Helvetica"/>
              </a:defRPr>
            </a:pPr>
            <a:r>
              <a:rPr sz="4950" b="1">
                <a:solidFill>
                  <a:srgbClr val="F7F7F2"/>
                </a:solidFill>
                <a:latin typeface="Helvetica"/>
                <a:ea typeface="Helvetica"/>
                <a:cs typeface="Helvetica"/>
              </a:rPr>
              <a:t>Vehicle Import</a:t>
            </a:r>
          </a:p>
          <a:p xmlns:a="http://schemas.openxmlformats.org/drawingml/2006/main">
            <a:pPr>
              <a:defRPr sz="4950" b="1">
                <a:solidFill>
                  <a:srgbClr val="F7F7F2"/>
                </a:solidFill>
                <a:latin typeface="Helvetica"/>
                <a:ea typeface="Helvetica"/>
                <a:cs typeface="Helvetica"/>
              </a:defRPr>
            </a:pPr>
            <a:r>
              <a:rPr sz="4950" b="1">
                <a:solidFill>
                  <a:srgbClr val="F7F7F2"/>
                </a:solidFill>
                <a:latin typeface="Helvetica"/>
                <a:ea typeface="Helvetica"/>
                <a:cs typeface="Helvetica"/>
              </a:rPr>
              <a:t>Estimator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F921B-210A-4062-8CD2-BE6833FA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809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83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8A8A4"/>
                </a:solidFill>
                <a:latin typeface="Helvetica"/>
                <a:ea typeface="Helvetica"/>
                <a:cs typeface="Helvetica"/>
              </a:defRPr>
            </a:pPr>
            <a:r>
              <a:rPr sz="2025" b="0">
                <a:solidFill>
                  <a:srgbClr val="A8A8A4"/>
                </a:solidFill>
                <a:latin typeface="Helvetica"/>
                <a:ea typeface="Helvetica"/>
                <a:cs typeface="Helvetica"/>
              </a:rPr>
              <a:t>A Chrome extension that estimates Portuguese vehicle-import costs from a marketplace listing.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C2430-E90F-4281-9E04-E7AEBD8A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F000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E6F000"/>
                </a:solidFill>
                <a:latin typeface="Helvetica"/>
                <a:ea typeface="Helvetica"/>
                <a:cs typeface="Helvetica"/>
              </a:rPr>
              <a:t>5-minute product demo  |  Extension v0.2.11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8B262-38AC-4539-A7B4-66F2DB9B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15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7F7F2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F7F7F2"/>
                </a:solidFill>
                <a:latin typeface="Helvetica"/>
                <a:ea typeface="Helvetica"/>
                <a:cs typeface="Helvetica"/>
              </a:rPr>
              <a:t>multimccp00/vehicle-import-extension</a:t>
            </a:r>
          </a:p>
        </p:txBody>
      </p:sp>
    </p:spTree>
    <p:extLst>
      <p:ext uri="{BB962C8B-B14F-4D97-AF65-F5344CB8AC3E}">
        <p14:creationId xmlns:p14="http://schemas.microsoft.com/office/powerpoint/2010/main" val="8648409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02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2B603-6158-41C8-94CF-EE9BA262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6F000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E6F000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A9A8F-3BE3-4BDE-A7B4-E3F331F7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46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7F2"/>
                </a:solidFill>
                <a:latin typeface="Helvetica"/>
                <a:ea typeface="Helvetica"/>
                <a:cs typeface="Helvetica"/>
              </a:defRPr>
            </a:pPr>
            <a:r>
              <a:rPr sz="3150" b="1">
                <a:solidFill>
                  <a:srgbClr val="F7F7F2"/>
                </a:solidFill>
                <a:latin typeface="Helvetica"/>
                <a:ea typeface="Helvetica"/>
                <a:cs typeface="Helvetica"/>
              </a:rPr>
              <a:t>The import-cost decision starts with an incomplete listing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5A66C-E8EF-47E1-817E-3C0DEB1D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8A8A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A8A8A4"/>
                </a:solidFill>
                <a:latin typeface="Helvetica"/>
                <a:ea typeface="Helvetica"/>
                <a:cs typeface="Helvetica"/>
              </a:rPr>
              <a:t>Vehicle Import Estimator  |  Portugal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89CDD-0AFB-4761-A75E-D212BA81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8A8A4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A8A8A4"/>
                </a:solidFill>
                <a:latin typeface="Helvetica"/>
                <a:ea typeface="Helvetica"/>
                <a:cs typeface="Helvetica"/>
              </a:rPr>
              <a:t>A marketplace advert rarely exposes every value needed for an import estimate.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7E83A-68A9-41EC-B9E9-433710F8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F7F2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F7F7F2"/>
                </a:solidFill>
                <a:latin typeface="Helvetica"/>
                <a:ea typeface="Helvetica"/>
                <a:cs typeface="Helvetica"/>
              </a:rPr>
              <a:t>Price and first registration date usually appear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CC8FD-4813-4E2E-9014-5927A5EF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F7F2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F7F7F2"/>
                </a:solidFill>
                <a:latin typeface="Helvetica"/>
                <a:ea typeface="Helvetica"/>
                <a:cs typeface="Helvetica"/>
              </a:rPr>
              <a:t>CO₂ is often missing, while engine data and fuel labels vary by marketplace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7881E-A2B8-4D2A-A574-A9182197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F7F2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F7F7F2"/>
                </a:solidFill>
                <a:latin typeface="Helvetica"/>
                <a:ea typeface="Helvetica"/>
                <a:cs typeface="Helvetica"/>
              </a:rPr>
              <a:t>The buyer still needs a clear cost range before deciding to import</a:t>
            </a:r>
          </a:p>
        </p:txBody>
      </p:sp>
    </p:spTree>
    <p:extLst>
      <p:ext uri="{BB962C8B-B14F-4D97-AF65-F5344CB8AC3E}">
        <p14:creationId xmlns:p14="http://schemas.microsoft.com/office/powerpoint/2010/main" val="7749987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02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F0BE0-9A4B-4716-A76C-135439DF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6F000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E6F000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2F2DF-5BA9-4B8C-9CF1-2EC8DD93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7F2"/>
                </a:solidFill>
                <a:latin typeface="Helvetica"/>
                <a:ea typeface="Helvetica"/>
                <a:cs typeface="Helvetica"/>
              </a:defRPr>
            </a:pPr>
            <a:r>
              <a:rPr sz="3150" b="1">
                <a:solidFill>
                  <a:srgbClr val="F7F7F2"/>
                </a:solidFill>
                <a:latin typeface="Helvetica"/>
                <a:ea typeface="Helvetica"/>
                <a:cs typeface="Helvetica"/>
              </a:rPr>
              <a:t>A listing becomes an estimate in the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0498C-54E1-41CB-8E1B-7E287834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8A8A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A8A8A4"/>
                </a:solidFill>
                <a:latin typeface="Helvetica"/>
                <a:ea typeface="Helvetica"/>
                <a:cs typeface="Helvetica"/>
              </a:rPr>
              <a:t>Vehicle Import Estimator  |  Portugal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48c892cf54cdd"/>
          <a:stretch xmlns:a="http://schemas.openxmlformats.org/drawingml/2006/main"/>
        </p:blipFill>
        <p:spPr>
          <a:xfrm xmlns:a="http://schemas.openxmlformats.org/drawingml/2006/main">
            <a:off x="6715125" y="2893890"/>
            <a:ext cx="4762500" cy="156551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86478-4F2F-4FA7-A884-B1F990DA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7F2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F7F7F2"/>
                </a:solidFill>
                <a:latin typeface="Helvetica"/>
                <a:ea typeface="Helvetica"/>
                <a:cs typeface="Helvetica"/>
              </a:rPr>
              <a:t>1  Parse the active listing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C02F1-DA92-4C80-8C18-CC676871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7F2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F7F7F2"/>
                </a:solidFill>
                <a:latin typeface="Helvetica"/>
                <a:ea typeface="Helvetica"/>
                <a:cs typeface="Helvetica"/>
              </a:rPr>
              <a:t>2  Use listed CO₂ when available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1833D-EBD6-485D-AE08-BAEF41F9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542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38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7F2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F7F7F2"/>
                </a:solidFill>
                <a:latin typeface="Helvetica"/>
                <a:ea typeface="Helvetica"/>
                <a:cs typeface="Helvetica"/>
              </a:rPr>
              <a:t>3  Search the EEA catalogue when CO₂ is missing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40F22-F579-4024-8061-DA43B444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542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38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7F2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F7F7F2"/>
                </a:solidFill>
                <a:latin typeface="Helvetica"/>
                <a:ea typeface="Helvetica"/>
                <a:cs typeface="Helvetica"/>
              </a:rPr>
              <a:t>4  Show a CO₂ range and Portugal import estimate</a:t>
            </a:r>
          </a:p>
        </p:txBody>
      </p:sp>
    </p:spTree>
    <p:extLst>
      <p:ext uri="{BB962C8B-B14F-4D97-AF65-F5344CB8AC3E}">
        <p14:creationId xmlns:p14="http://schemas.microsoft.com/office/powerpoint/2010/main" val="13263159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2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D5CBC-385D-4E44-A47F-236CF7D6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6F000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E6F000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29119-466C-4A2F-8256-66EFC145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7F2"/>
                </a:solidFill>
                <a:latin typeface="Helvetica"/>
                <a:ea typeface="Helvetica"/>
                <a:cs typeface="Helvetica"/>
              </a:defRPr>
            </a:pPr>
            <a:r>
              <a:rPr sz="3150" b="1">
                <a:solidFill>
                  <a:srgbClr val="F7F7F2"/>
                </a:solidFill>
                <a:latin typeface="Helvetica"/>
                <a:ea typeface="Helvetica"/>
                <a:cs typeface="Helvetica"/>
              </a:rPr>
              <a:t>Generic CO₂ matching without manufacturer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12E89-8C91-4E34-BF65-88AE38DC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8A8A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A8A8A4"/>
                </a:solidFill>
                <a:latin typeface="Helvetica"/>
                <a:ea typeface="Helvetica"/>
                <a:cs typeface="Helvetica"/>
              </a:rPr>
              <a:t>Vehicle Import Estimator  |  Portugal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0F63F-CACB-45AD-95A9-6503D414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616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8A8A4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A8A8A4"/>
                </a:solidFill>
                <a:latin typeface="Helvetica"/>
                <a:ea typeface="Helvetica"/>
                <a:cs typeface="Helvetica"/>
              </a:rPr>
              <a:t>The matcher normalizes accents, punctuation, spacing, and case for every make and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05C49-B058-4FF6-AA59-BC61457A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6F000"/>
                </a:solidFill>
                <a:latin typeface="Helvetica"/>
                <a:ea typeface="Helvetica"/>
                <a:cs typeface="Helvetica"/>
              </a:defRPr>
            </a:pPr>
            <a:r>
              <a:rPr sz="2025" b="1">
                <a:solidFill>
                  <a:srgbClr val="E6F000"/>
                </a:solidFill>
                <a:latin typeface="Helvetica"/>
                <a:ea typeface="Helvetica"/>
                <a:cs typeface="Helvetica"/>
              </a:rPr>
              <a:t>No make-alias 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936D0-D9C3-4931-B444-EE74CEA2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71850"/>
            <a:ext cx="3762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6F000"/>
                </a:solidFill>
                <a:latin typeface="Helvetica"/>
                <a:ea typeface="Helvetica"/>
                <a:cs typeface="Helvetica"/>
              </a:defRPr>
            </a:pPr>
            <a:r>
              <a:rPr sz="2025" b="1">
                <a:solidFill>
                  <a:srgbClr val="E6F000"/>
                </a:solidFill>
                <a:latin typeface="Helvetica"/>
                <a:ea typeface="Helvetica"/>
                <a:cs typeface="Helvetica"/>
              </a:rPr>
              <a:t>No manufacturer branches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A6413-F78F-43BE-8CAB-473D1B3A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71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6F000"/>
                </a:solidFill>
                <a:latin typeface="Helvetica"/>
                <a:ea typeface="Helvetica"/>
                <a:cs typeface="Helvetica"/>
              </a:defRPr>
            </a:pPr>
            <a:r>
              <a:rPr sz="2025" b="1">
                <a:solidFill>
                  <a:srgbClr val="E6F000"/>
                </a:solidFill>
                <a:latin typeface="Helvetica"/>
                <a:ea typeface="Helvetica"/>
                <a:cs typeface="Helvetica"/>
              </a:rPr>
              <a:t>No variant selector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C423E-18C4-4169-BDEF-63148DE4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29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7F2"/>
                </a:solidFill>
                <a:latin typeface="Helvetica"/>
                <a:ea typeface="Helvetica"/>
                <a:cs typeface="Helvetica"/>
              </a:defRPr>
            </a:pPr>
            <a:r>
              <a:rPr sz="2175" b="1">
                <a:solidFill>
                  <a:srgbClr val="F7F7F2"/>
                </a:solidFill>
                <a:latin typeface="Helvetica"/>
                <a:ea typeface="Helvetica"/>
                <a:cs typeface="Helvetica"/>
              </a:rPr>
              <a:t>When compatible EEA records differ, the extension keeps the full range instead of inventing a single CO₂ figure.</a:t>
            </a:r>
          </a:p>
        </p:txBody>
      </p:sp>
    </p:spTree>
    <p:extLst>
      <p:ext uri="{BB962C8B-B14F-4D97-AF65-F5344CB8AC3E}">
        <p14:creationId xmlns:p14="http://schemas.microsoft.com/office/powerpoint/2010/main" val="16605486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02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56395-5DD9-4781-969A-332E481B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6F000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E6F000"/>
                </a:solidFill>
                <a:latin typeface="Helvetica"/>
                <a:ea typeface="Helvetica"/>
                <a:cs typeface="Helvetica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63DE5-44A8-488F-A751-B72C8E79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7F2"/>
                </a:solidFill>
                <a:latin typeface="Helvetica"/>
                <a:ea typeface="Helvetica"/>
                <a:cs typeface="Helvetica"/>
              </a:defRPr>
            </a:pPr>
            <a:r>
              <a:rPr sz="3150" b="1">
                <a:solidFill>
                  <a:srgbClr val="F7F7F2"/>
                </a:solidFill>
                <a:latin typeface="Helvetica"/>
                <a:ea typeface="Helvetica"/>
                <a:cs typeface="Helvetica"/>
              </a:rPr>
              <a:t>Portugal ISV logic includes electric vehicles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82B67-83F9-450A-828C-D4FE9944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8A8A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A8A8A4"/>
                </a:solidFill>
                <a:latin typeface="Helvetica"/>
                <a:ea typeface="Helvetica"/>
                <a:cs typeface="Helvetica"/>
              </a:rPr>
              <a:t>Vehicle Import Estimator  |  Portugal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BA744-7A0F-4FD4-BF1B-573B64A9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8A8A4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A8A8A4"/>
                </a:solidFill>
                <a:latin typeface="Helvetica"/>
                <a:ea typeface="Helvetica"/>
                <a:cs typeface="Helvetica"/>
              </a:rPr>
              <a:t>Electric vehicles have no engine displacement. The calculator treats an exclusively electric vehicle as ISV-exempt while retaining the remaining landed-cost inputs.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4D2F0-C8A7-461A-AFC8-55E0AB8A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6F000"/>
                </a:solidFill>
                <a:latin typeface="Helvetica"/>
                <a:ea typeface="Helvetica"/>
                <a:cs typeface="Helvetica"/>
              </a:defRPr>
            </a:pPr>
            <a:r>
              <a:rPr sz="2700" b="1">
                <a:solidFill>
                  <a:srgbClr val="E6F000"/>
                </a:solidFill>
                <a:latin typeface="Helvetica"/>
                <a:ea typeface="Helvetica"/>
                <a:cs typeface="Helvetica"/>
              </a:rPr>
              <a:t>18 automated tests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8A154-8615-4863-8D86-1D3FFD17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91025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7F2"/>
                </a:solidFill>
                <a:latin typeface="Helvetica"/>
                <a:ea typeface="Helvetica"/>
                <a:cs typeface="Helvetica"/>
              </a:defRPr>
            </a:pPr>
            <a:r>
              <a:rPr sz="2025" b="1">
                <a:solidFill>
                  <a:srgbClr val="F7F7F2"/>
                </a:solidFill>
                <a:latin typeface="Helvetica"/>
                <a:ea typeface="Helvetica"/>
                <a:cs typeface="Helvetica"/>
              </a:rPr>
              <a:t>cover catalogue ranges, registration-date reductions, cycle rules, plug-in hybrids, electric vehicles, EEA request timeouts, and live-page parsing.</a:t>
            </a:r>
          </a:p>
        </p:txBody>
      </p:sp>
    </p:spTree>
    <p:extLst>
      <p:ext uri="{BB962C8B-B14F-4D97-AF65-F5344CB8AC3E}">
        <p14:creationId xmlns:p14="http://schemas.microsoft.com/office/powerpoint/2010/main" val="11612781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02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90F1D-69D7-4FD8-82A0-9B2334C6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6F000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E6F000"/>
                </a:solidFill>
                <a:latin typeface="Helvetica"/>
                <a:ea typeface="Helvetica"/>
                <a:cs typeface="Helvetica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7BDB2-AD59-438D-A395-35214623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7F2"/>
                </a:solidFill>
                <a:latin typeface="Helvetica"/>
                <a:ea typeface="Helvetica"/>
                <a:cs typeface="Helvetica"/>
              </a:defRPr>
            </a:pPr>
            <a:r>
              <a:rPr sz="3150" b="1">
                <a:solidFill>
                  <a:srgbClr val="F7F7F2"/>
                </a:solidFill>
                <a:latin typeface="Helvetica"/>
                <a:ea typeface="Helvetica"/>
                <a:cs typeface="Helvetica"/>
              </a:rPr>
              <a:t>Five-minute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830B7-0C15-46B1-B838-09B8C893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8A8A4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A8A8A4"/>
                </a:solidFill>
                <a:latin typeface="Helvetica"/>
                <a:ea typeface="Helvetica"/>
                <a:cs typeface="Helvetica"/>
              </a:rPr>
              <a:t>Vehicle Import Estimator  |  Portugal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73AA5-7389-4F8A-A3B7-E0E9F15A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7F2"/>
                </a:solidFill>
                <a:latin typeface="Helvetica"/>
                <a:ea typeface="Helvetica"/>
                <a:cs typeface="Helvetica"/>
              </a:defRPr>
            </a:pPr>
            <a:r>
              <a:rPr sz="2025" b="1">
                <a:solidFill>
                  <a:srgbClr val="F7F7F2"/>
                </a:solidFill>
                <a:latin typeface="Helvetica"/>
                <a:ea typeface="Helvetica"/>
                <a:cs typeface="Helvetica"/>
              </a:rPr>
              <a:t>1. Load the unpacked extension in Chrome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51581-26B5-4EF9-A57F-58105F10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7F2"/>
                </a:solidFill>
                <a:latin typeface="Helvetica"/>
                <a:ea typeface="Helvetica"/>
                <a:cs typeface="Helvetica"/>
              </a:defRPr>
            </a:pPr>
            <a:r>
              <a:rPr sz="2025" b="1">
                <a:solidFill>
                  <a:srgbClr val="F7F7F2"/>
                </a:solidFill>
                <a:latin typeface="Helvetica"/>
                <a:ea typeface="Helvetica"/>
                <a:cs typeface="Helvetica"/>
              </a:rPr>
              <a:t>2. Open a supported vehicle listing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78C9C-1D6C-450F-96F1-92A271ED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7F2"/>
                </a:solidFill>
                <a:latin typeface="Helvetica"/>
                <a:ea typeface="Helvetica"/>
                <a:cs typeface="Helvetica"/>
              </a:defRPr>
            </a:pPr>
            <a:r>
              <a:rPr sz="2025" b="1">
                <a:solidFill>
                  <a:srgbClr val="F7F7F2"/>
                </a:solidFill>
                <a:latin typeface="Helvetica"/>
                <a:ea typeface="Helvetica"/>
                <a:cs typeface="Helvetica"/>
              </a:rPr>
              <a:t>3. Show parsed price, fuel, engine, and registration 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2447A-C8DC-4323-9D62-A8DDCCB4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7F2"/>
                </a:solidFill>
                <a:latin typeface="Helvetica"/>
                <a:ea typeface="Helvetica"/>
                <a:cs typeface="Helvetica"/>
              </a:defRPr>
            </a:pPr>
            <a:r>
              <a:rPr sz="2025" b="1">
                <a:solidFill>
                  <a:srgbClr val="F7F7F2"/>
                </a:solidFill>
                <a:latin typeface="Helvetica"/>
                <a:ea typeface="Helvetica"/>
                <a:cs typeface="Helvetica"/>
              </a:rPr>
              <a:t>4. Show the automatic CO₂ range or a safe no-match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444EC-FE06-496B-9F81-A82D67C1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7F2"/>
                </a:solidFill>
                <a:latin typeface="Helvetica"/>
                <a:ea typeface="Helvetica"/>
                <a:cs typeface="Helvetica"/>
              </a:defRPr>
            </a:pPr>
            <a:r>
              <a:rPr sz="2025" b="1">
                <a:solidFill>
                  <a:srgbClr val="F7F7F2"/>
                </a:solidFill>
                <a:latin typeface="Helvetica"/>
                <a:ea typeface="Helvetica"/>
                <a:cs typeface="Helvetica"/>
              </a:rPr>
              <a:t>5. Change transport cost or import origin and review the estimate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BB594-012B-467B-84A8-CEEB65C1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6F000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E6F000"/>
                </a:solidFill>
                <a:latin typeface="Helvetica"/>
                <a:ea typeface="Helvetica"/>
                <a:cs typeface="Helvetica"/>
              </a:rPr>
              <a:t>Repository: github.com/multimccp00/vehicle-import-extension</a:t>
            </a:r>
          </a:p>
        </p:txBody>
      </p:sp>
    </p:spTree>
    <p:extLst>
      <p:ext uri="{BB962C8B-B14F-4D97-AF65-F5344CB8AC3E}">
        <p14:creationId xmlns:p14="http://schemas.microsoft.com/office/powerpoint/2010/main" val="638850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2026-09-23T10:10:13.9410000Z</dcterms:created>
  <dcterms:modified xsi:type="dcterms:W3CDTF">2026-09-23T10:10:13.9410000Z</dcterms:modified>
</coreProperties>
</file>